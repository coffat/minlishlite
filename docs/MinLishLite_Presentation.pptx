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34095" y="3200400"/>
            <a:ext cx="5486400" cy="5486400"/>
          </a:xfrm>
          <a:prstGeom prst="ellipse">
            <a:avLst/>
          </a:prstGeom>
          <a:solidFill>
            <a:srgbClr val="70B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083370"/>
                </a:solidFill>
                <a:latin typeface="Arial"/>
              </a:defRPr>
            </a:pPr>
            <a:r>
              <a:t>Study / Flashcards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12900"/>
            <a:ext cx="1828800" cy="38100"/>
          </a:xfrm>
          <a:prstGeom prst="rect">
            <a:avLst/>
          </a:prstGeom>
          <a:solidFill>
            <a:srgbClr val="08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Spaced Repetition System (SRS): Custom SrsCalculator schedules reviews based on Again, Hard, Good, and Easy ratings.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Study Modes: Filter by Specific Deck (DeckDue) or Review Today (DueToday) for all overdue words.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Real-time Progress: Live tracking of study fractions and remaining cards within a session.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914400"/>
            <a:ext cx="2926080" cy="530352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83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09560" y="1051560"/>
            <a:ext cx="2651760" cy="50292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320040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STUDY</a:t>
            </a:r>
            <a:br/>
            <a:r>
              <a:t>INSERT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34095" y="3200400"/>
            <a:ext cx="5486400" cy="5486400"/>
          </a:xfrm>
          <a:prstGeom prst="ellipse">
            <a:avLst/>
          </a:prstGeom>
          <a:solidFill>
            <a:srgbClr val="70B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2926080" cy="530352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83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08760" y="1051560"/>
            <a:ext cx="2651760" cy="50292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320040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PROGRESS</a:t>
            </a:r>
            <a:br/>
            <a:r>
              <a:t>INSERT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9144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083370"/>
                </a:solidFill>
                <a:latin typeface="Arial"/>
              </a:defRPr>
            </a:pPr>
            <a:r>
              <a:t>Progress &amp;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612900"/>
            <a:ext cx="1981200" cy="38100"/>
          </a:xfrm>
          <a:prstGeom prst="rect">
            <a:avLst/>
          </a:prstGeom>
          <a:solidFill>
            <a:srgbClr val="08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Continuous Tracking: Monitors current streak, longest streak, and total reviews mapped from ReviewHistoryEntity.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Retention Insights: Automatically computes retention rate and accuracy metrics.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State Management: Driven by Coroutine Flows delivering real-time ProgressAnalytics updates to the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34095" y="3200400"/>
            <a:ext cx="5486400" cy="5486400"/>
          </a:xfrm>
          <a:prstGeom prst="ellipse">
            <a:avLst/>
          </a:prstGeom>
          <a:solidFill>
            <a:srgbClr val="70B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083370"/>
                </a:solidFill>
                <a:latin typeface="Arial"/>
              </a:defRPr>
            </a:pPr>
            <a:r>
              <a:t>Settings &amp;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12900"/>
            <a:ext cx="1981200" cy="38100"/>
          </a:xfrm>
          <a:prstGeom prst="rect">
            <a:avLst/>
          </a:prstGeom>
          <a:solidFill>
            <a:srgbClr val="08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Study Goals: Personalize daily target for new words (default 10).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Notifications: Configure customizable daily review reminders (default 09:00 AM).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Profile Management: Edit profile attributes (Name, Goal, Level) synced deeply with UserEntity.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914400"/>
            <a:ext cx="2926080" cy="530352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83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09560" y="1051560"/>
            <a:ext cx="2651760" cy="50292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320040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SETTINGS</a:t>
            </a:r>
            <a:br/>
            <a:r>
              <a:t>INSERT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70B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ata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114800" cy="3086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9144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083370"/>
                </a:solidFill>
                <a:latin typeface="Arial"/>
              </a:defRPr>
            </a:pPr>
            <a:r>
              <a:t>Core Data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612900"/>
            <a:ext cx="1981200" cy="38100"/>
          </a:xfrm>
          <a:prstGeom prst="rect">
            <a:avLst/>
          </a:prstGeom>
          <a:solidFill>
            <a:srgbClr val="08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DeckEntity: Represents a vocabulary deck holding multiple flashcards.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WordEntity: Represents a flashcard mapping word data to critical SRS attributes (easeFactor, nextReviewAt, reviewCount, correctCount).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ReviewHistoryEntity: Logs every review session outcome to fuel analytics and progress reporting.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UserEntity: Stores the user's base profile and study goals locally.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34095" y="3200400"/>
            <a:ext cx="5486400" cy="5486400"/>
          </a:xfrm>
          <a:prstGeom prst="ellipse">
            <a:avLst/>
          </a:prstGeom>
          <a:solidFill>
            <a:srgbClr val="70B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083370"/>
                </a:solidFill>
                <a:latin typeface="Arial"/>
              </a:defRPr>
            </a:pPr>
            <a:r>
              <a:t>Navigation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12900"/>
            <a:ext cx="1981200" cy="38100"/>
          </a:xfrm>
          <a:prstGeom prst="rect">
            <a:avLst/>
          </a:prstGeom>
          <a:solidFill>
            <a:srgbClr val="08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Splash Screen → Home Screen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From the Home Screen navigates to: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  • Deck List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  • Deck Detail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  • Study Mode / Flashcard Review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  • Progress &amp; Analytics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  • Settings &amp; Profile Management</a:t>
            </a:r>
          </a:p>
        </p:txBody>
      </p:sp>
      <p:pic>
        <p:nvPicPr>
          <p:cNvPr id="6" name="Picture 5" descr="nav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70B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114800" cy="3086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9144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083370"/>
                </a:solidFill>
                <a:latin typeface="Arial"/>
              </a:defRPr>
            </a:pPr>
            <a:r>
              <a:t>Algorithm &amp;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612900"/>
            <a:ext cx="1981200" cy="38100"/>
          </a:xfrm>
          <a:prstGeom prst="rect">
            <a:avLst/>
          </a:prstGeom>
          <a:solidFill>
            <a:srgbClr val="08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Spaced Repetition System (SRS): SrsCalculator computes the next review time (nextReviewAt) and modifies difficulty (easeFactor) relying on user self-evaluation (Again, Hard, Good, Easy).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Progress Calculation: ProgressCalculator derives learning streaks, tracking accuracy and review retention metrics extracted from ReviewHistoryEntity entries.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34095" y="3200400"/>
            <a:ext cx="5486400" cy="5486400"/>
          </a:xfrm>
          <a:prstGeom prst="ellipse">
            <a:avLst/>
          </a:prstGeom>
          <a:solidFill>
            <a:srgbClr val="70B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083370"/>
                </a:solidFill>
                <a:latin typeface="Arial"/>
              </a:defRPr>
            </a:pPr>
            <a:r>
              <a:t>Current Strengths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12900"/>
            <a:ext cx="3444240" cy="38100"/>
          </a:xfrm>
          <a:prstGeom prst="rect">
            <a:avLst/>
          </a:prstGeom>
          <a:solidFill>
            <a:srgbClr val="08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Modern UI implementation leveraging Jetpack Compose and Material 3.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Robust local-first architecture securely powered by Room Database.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Highly effective custom Spaced Repetition (SRS) algorithmic integration.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Comprehensive analytics and progress tracking systems natively implemented.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Clean MVVM architecture efficiently decoupling UI elements from business logic.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3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083370"/>
                </a:solidFill>
                <a:latin typeface="Arial"/>
              </a:defRPr>
            </a:pPr>
            <a:r>
              <a:t>Current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12900"/>
            <a:ext cx="3444240" cy="38100"/>
          </a:xfrm>
          <a:prstGeom prst="rect">
            <a:avLst/>
          </a:prstGeom>
          <a:solidFill>
            <a:srgbClr val="08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Relies on manual Dependency Injection (AppContainer) rather than standard DI frameworks like Hilt or Koin.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Limited cloud data synchronization capabilities (Data currently acts primarily as offline storage).</a:t>
            </a:r>
          </a:p>
          <a:p>
            <a:pPr>
              <a:spcAft>
                <a:spcPts val="1400"/>
              </a:spcAft>
              <a:defRPr sz="2000">
                <a:solidFill>
                  <a:srgbClr val="083370"/>
                </a:solidFill>
                <a:latin typeface="Arial"/>
              </a:defRPr>
            </a:pPr>
            <a:r>
              <a:t>Heavy dependency on public and free translation/dictionary APIs which are susceptible to rate limits.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